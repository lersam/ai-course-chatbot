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7" r:id="rId2"/>
    <p:sldId id="258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</p:sldIdLst>
  <p:sldSz cx="9144000" cy="6858000" type="screen4x3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FEFE"/>
    <a:srgbClr val="00F2FF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he-I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he-I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511CF-2969-4FBF-B6F4-2BE498CC53E8}" type="datetimeFigureOut">
              <a:rPr lang="he-IL" smtClean="0"/>
              <a:pPr/>
              <a:t>כ"ט/שבט/תשפ"ו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B2191-266D-49C5-9CA5-7C66F93F315E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e-I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511CF-2969-4FBF-B6F4-2BE498CC53E8}" type="datetimeFigureOut">
              <a:rPr lang="he-IL" smtClean="0"/>
              <a:pPr/>
              <a:t>כ"ט/שבט/תשפ"ו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B2191-266D-49C5-9CA5-7C66F93F315E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511CF-2969-4FBF-B6F4-2BE498CC53E8}" type="datetimeFigureOut">
              <a:rPr lang="he-IL" smtClean="0"/>
              <a:pPr/>
              <a:t>כ"ט/שבט/תשפ"ו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B2191-266D-49C5-9CA5-7C66F93F315E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e-I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e-I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511CF-2969-4FBF-B6F4-2BE498CC53E8}" type="datetimeFigureOut">
              <a:rPr lang="he-IL" smtClean="0"/>
              <a:pPr/>
              <a:t>כ"ט/שבט/תשפ"ו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B2191-266D-49C5-9CA5-7C66F93F315E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e-I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e-IL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511CF-2969-4FBF-B6F4-2BE498CC53E8}" type="datetimeFigureOut">
              <a:rPr lang="he-IL" smtClean="0"/>
              <a:pPr/>
              <a:t>כ"ט/שבט/תשפ"ו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B2191-266D-49C5-9CA5-7C66F93F315E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511CF-2969-4FBF-B6F4-2BE498CC53E8}" type="datetimeFigureOut">
              <a:rPr lang="he-IL" smtClean="0"/>
              <a:pPr/>
              <a:t>כ"ט/שבט/תשפ"ו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B2191-266D-49C5-9CA5-7C66F93F315E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511CF-2969-4FBF-B6F4-2BE498CC53E8}" type="datetimeFigureOut">
              <a:rPr lang="he-IL" smtClean="0"/>
              <a:pPr/>
              <a:t>כ"ט/שבט/תשפ"ו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B2191-266D-49C5-9CA5-7C66F93F315E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e-I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511CF-2969-4FBF-B6F4-2BE498CC53E8}" type="datetimeFigureOut">
              <a:rPr lang="he-IL" smtClean="0"/>
              <a:pPr/>
              <a:t>כ"ט/שבט/תשפ"ו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B2191-266D-49C5-9CA5-7C66F93F315E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he-I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511CF-2969-4FBF-B6F4-2BE498CC53E8}" type="datetimeFigureOut">
              <a:rPr lang="he-IL" smtClean="0"/>
              <a:pPr/>
              <a:t>כ"ט/שבט/תשפ"ו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B2191-266D-49C5-9CA5-7C66F93F315E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he-I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e-I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511CF-2969-4FBF-B6F4-2BE498CC53E8}" type="datetimeFigureOut">
              <a:rPr lang="he-IL" smtClean="0"/>
              <a:pPr/>
              <a:t>כ"ט/שבט/תשפ"ו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B2191-266D-49C5-9CA5-7C66F93F315E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he-I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e-I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511CF-2969-4FBF-B6F4-2BE498CC53E8}" type="datetimeFigureOut">
              <a:rPr lang="he-IL" smtClean="0"/>
              <a:pPr/>
              <a:t>כ"ט/שבט/תשפ"ו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B2191-266D-49C5-9CA5-7C66F93F315E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 t="-25000" b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e-I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0511CF-2969-4FBF-B6F4-2BE498CC53E8}" type="datetimeFigureOut">
              <a:rPr lang="he-IL" smtClean="0"/>
              <a:pPr/>
              <a:t>כ"ט/שבט/תשפ"ו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4B2191-266D-49C5-9CA5-7C66F93F315E}" type="slidenum">
              <a:rPr lang="he-IL" smtClean="0"/>
              <a:pPr/>
              <a:t>‹#›</a:t>
            </a:fld>
            <a:endParaRPr lang="he-I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1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r" defTabSz="914400" rtl="1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defTabSz="914400" rtl="1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8000/monitoring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506290"/>
          </a:xfrm>
        </p:spPr>
        <p:txBody>
          <a:bodyPr/>
          <a:lstStyle/>
          <a:p>
            <a:pPr rtl="0"/>
            <a:r>
              <a:rPr lang="en-US" b="1" dirty="0" smtClean="0">
                <a:solidFill>
                  <a:schemeClr val="bg1"/>
                </a:solidFill>
              </a:rPr>
              <a:t>AI Course </a:t>
            </a:r>
            <a:r>
              <a:rPr lang="en-US" b="1" dirty="0" err="1" smtClean="0">
                <a:solidFill>
                  <a:schemeClr val="bg1"/>
                </a:solidFill>
              </a:rPr>
              <a:t>Chatbot</a:t>
            </a:r>
            <a:endParaRPr lang="he-IL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573016"/>
            <a:ext cx="8229600" cy="2553147"/>
          </a:xfrm>
        </p:spPr>
        <p:txBody>
          <a:bodyPr/>
          <a:lstStyle/>
          <a:p>
            <a:pPr algn="l" rtl="0">
              <a:buNone/>
            </a:pPr>
            <a:r>
              <a:rPr lang="en-US" dirty="0" smtClean="0">
                <a:solidFill>
                  <a:srgbClr val="FEFEFE"/>
                </a:solidFill>
              </a:rPr>
              <a:t>A Local RAG Solution for Intelligent Document Q&amp;A</a:t>
            </a:r>
          </a:p>
          <a:p>
            <a:pPr algn="l" rtl="0">
              <a:buNone/>
            </a:pPr>
            <a:r>
              <a:rPr lang="en-US" b="1" dirty="0" smtClean="0">
                <a:solidFill>
                  <a:srgbClr val="FEFEFE"/>
                </a:solidFill>
              </a:rPr>
              <a:t>Presenter:</a:t>
            </a:r>
            <a:r>
              <a:rPr lang="en-US" dirty="0" smtClean="0">
                <a:solidFill>
                  <a:srgbClr val="FEFEFE"/>
                </a:solidFill>
              </a:rPr>
              <a:t> Lerner Samuel</a:t>
            </a:r>
          </a:p>
          <a:p>
            <a:pPr algn="l" rtl="0">
              <a:buNone/>
            </a:pPr>
            <a:r>
              <a:rPr lang="en-US" b="1" dirty="0" smtClean="0">
                <a:solidFill>
                  <a:srgbClr val="FEFEFE"/>
                </a:solidFill>
              </a:rPr>
              <a:t>Duration:</a:t>
            </a:r>
            <a:r>
              <a:rPr lang="en-US" dirty="0" smtClean="0">
                <a:solidFill>
                  <a:srgbClr val="FEFEFE"/>
                </a:solidFill>
              </a:rPr>
              <a:t> 10 Minutes</a:t>
            </a:r>
            <a:endParaRPr lang="he-IL" dirty="0">
              <a:solidFill>
                <a:srgbClr val="FEFEFE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rtl="0"/>
            <a:r>
              <a:rPr lang="en-US" dirty="0" smtClean="0">
                <a:solidFill>
                  <a:schemeClr val="bg1"/>
                </a:solidFill>
              </a:rPr>
              <a:t>Introduction &amp; Project Vision</a:t>
            </a:r>
            <a:r>
              <a:rPr lang="en-US" sz="1100" dirty="0" smtClean="0">
                <a:solidFill>
                  <a:schemeClr val="bg1"/>
                </a:solidFill>
              </a:rPr>
              <a:t>(1 Min)</a:t>
            </a:r>
            <a:endParaRPr lang="he-IL" sz="1100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l" rtl="0"/>
            <a:r>
              <a:rPr lang="en-US" b="1" dirty="0" smtClean="0">
                <a:solidFill>
                  <a:schemeClr val="bg1"/>
                </a:solidFill>
              </a:rPr>
              <a:t>The Problem:</a:t>
            </a:r>
            <a:r>
              <a:rPr lang="en-US" dirty="0" smtClean="0">
                <a:solidFill>
                  <a:schemeClr val="bg1"/>
                </a:solidFill>
              </a:rPr>
              <a:t> Documents (PDFs) are often dense and difficult to navigate quickly. Traditional search only finds keywords, not concepts.</a:t>
            </a:r>
          </a:p>
          <a:p>
            <a:pPr algn="l" rtl="0"/>
            <a:r>
              <a:rPr lang="en-US" b="1" dirty="0" smtClean="0">
                <a:solidFill>
                  <a:schemeClr val="bg1"/>
                </a:solidFill>
              </a:rPr>
              <a:t>The Solution:</a:t>
            </a:r>
            <a:r>
              <a:rPr lang="en-US" dirty="0" smtClean="0">
                <a:solidFill>
                  <a:schemeClr val="bg1"/>
                </a:solidFill>
              </a:rPr>
              <a:t> A Retrieval-Augmented Generation (RAG) </a:t>
            </a:r>
            <a:r>
              <a:rPr lang="en-US" dirty="0" err="1" smtClean="0">
                <a:solidFill>
                  <a:schemeClr val="bg1"/>
                </a:solidFill>
              </a:rPr>
              <a:t>chatbot</a:t>
            </a:r>
            <a:r>
              <a:rPr lang="en-US" dirty="0" smtClean="0">
                <a:solidFill>
                  <a:schemeClr val="bg1"/>
                </a:solidFill>
              </a:rPr>
              <a:t> that allows users to "talk" to their documents.</a:t>
            </a:r>
          </a:p>
          <a:p>
            <a:pPr algn="l" rtl="0"/>
            <a:r>
              <a:rPr lang="en-US" b="1" dirty="0" smtClean="0">
                <a:solidFill>
                  <a:schemeClr val="bg1"/>
                </a:solidFill>
              </a:rPr>
              <a:t>Key Value Proposition:</a:t>
            </a:r>
            <a:endParaRPr lang="en-US" dirty="0" smtClean="0">
              <a:solidFill>
                <a:schemeClr val="bg1"/>
              </a:solidFill>
            </a:endParaRPr>
          </a:p>
          <a:p>
            <a:pPr lvl="1" algn="l" rtl="0"/>
            <a:r>
              <a:rPr lang="en-US" b="1" dirty="0" smtClean="0">
                <a:solidFill>
                  <a:schemeClr val="bg1"/>
                </a:solidFill>
              </a:rPr>
              <a:t>Privacy:</a:t>
            </a:r>
            <a:r>
              <a:rPr lang="en-US" dirty="0" smtClean="0">
                <a:solidFill>
                  <a:schemeClr val="bg1"/>
                </a:solidFill>
              </a:rPr>
              <a:t> Entirely local processing via </a:t>
            </a:r>
            <a:r>
              <a:rPr lang="en-US" dirty="0" err="1" smtClean="0">
                <a:solidFill>
                  <a:schemeClr val="bg1"/>
                </a:solidFill>
              </a:rPr>
              <a:t>Ollama</a:t>
            </a:r>
            <a:r>
              <a:rPr lang="en-US" dirty="0" smtClean="0">
                <a:solidFill>
                  <a:schemeClr val="bg1"/>
                </a:solidFill>
              </a:rPr>
              <a:t>.</a:t>
            </a:r>
          </a:p>
          <a:p>
            <a:pPr lvl="1" algn="l" rtl="0"/>
            <a:r>
              <a:rPr lang="en-US" b="1" dirty="0" smtClean="0">
                <a:solidFill>
                  <a:schemeClr val="bg1"/>
                </a:solidFill>
              </a:rPr>
              <a:t>Accuracy:</a:t>
            </a:r>
            <a:r>
              <a:rPr lang="en-US" dirty="0" smtClean="0">
                <a:solidFill>
                  <a:schemeClr val="bg1"/>
                </a:solidFill>
              </a:rPr>
              <a:t> Context-aware responses with direct citations.</a:t>
            </a:r>
          </a:p>
          <a:p>
            <a:pPr lvl="1" algn="l" rtl="0"/>
            <a:r>
              <a:rPr lang="en-US" b="1" dirty="0" smtClean="0">
                <a:solidFill>
                  <a:schemeClr val="bg1"/>
                </a:solidFill>
              </a:rPr>
              <a:t>Accessibility:</a:t>
            </a:r>
            <a:r>
              <a:rPr lang="en-US" dirty="0" smtClean="0">
                <a:solidFill>
                  <a:schemeClr val="bg1"/>
                </a:solidFill>
              </a:rPr>
              <a:t> Both Web UI and CLI interfaces.</a:t>
            </a:r>
          </a:p>
          <a:p>
            <a:pPr algn="l" rtl="0"/>
            <a:endParaRPr lang="he-IL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6488668"/>
            <a:ext cx="1539204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Lerner Samuel</a:t>
            </a:r>
            <a:endParaRPr lang="he-IL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rtl="0"/>
            <a:r>
              <a:rPr lang="en-US" dirty="0" smtClean="0">
                <a:solidFill>
                  <a:srgbClr val="FEFEFE"/>
                </a:solidFill>
              </a:rPr>
              <a:t>Core Technologies</a:t>
            </a:r>
            <a:r>
              <a:rPr lang="en-US" sz="1000" dirty="0" smtClean="0">
                <a:solidFill>
                  <a:srgbClr val="FEFEFE"/>
                </a:solidFill>
              </a:rPr>
              <a:t>(1 Min)</a:t>
            </a:r>
            <a:endParaRPr lang="he-IL" sz="1000" dirty="0">
              <a:solidFill>
                <a:srgbClr val="FEFEFE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l" rtl="0"/>
            <a:r>
              <a:rPr lang="en-US" b="1" dirty="0" smtClean="0">
                <a:solidFill>
                  <a:srgbClr val="FEFEFE"/>
                </a:solidFill>
              </a:rPr>
              <a:t>LLM Engine:</a:t>
            </a:r>
            <a:r>
              <a:rPr lang="en-US" dirty="0" smtClean="0">
                <a:solidFill>
                  <a:srgbClr val="FEFEFE"/>
                </a:solidFill>
              </a:rPr>
              <a:t> </a:t>
            </a:r>
            <a:r>
              <a:rPr lang="en-US" dirty="0" err="1" smtClean="0">
                <a:solidFill>
                  <a:srgbClr val="FEFEFE"/>
                </a:solidFill>
              </a:rPr>
              <a:t>Ollama</a:t>
            </a:r>
            <a:r>
              <a:rPr lang="en-US" dirty="0" smtClean="0">
                <a:solidFill>
                  <a:srgbClr val="FEFEFE"/>
                </a:solidFill>
              </a:rPr>
              <a:t> running gemma3:4b-it-qat for generation.</a:t>
            </a:r>
          </a:p>
          <a:p>
            <a:pPr algn="l" rtl="0"/>
            <a:r>
              <a:rPr lang="en-US" b="1" dirty="0" smtClean="0">
                <a:solidFill>
                  <a:srgbClr val="FEFEFE"/>
                </a:solidFill>
              </a:rPr>
              <a:t>Embeddings:</a:t>
            </a:r>
            <a:r>
              <a:rPr lang="en-US" dirty="0" smtClean="0">
                <a:solidFill>
                  <a:srgbClr val="FEFEFE"/>
                </a:solidFill>
              </a:rPr>
              <a:t> </a:t>
            </a:r>
            <a:r>
              <a:rPr lang="en-US" dirty="0" err="1" smtClean="0">
                <a:solidFill>
                  <a:srgbClr val="FEFEFE"/>
                </a:solidFill>
              </a:rPr>
              <a:t>nomic</a:t>
            </a:r>
            <a:r>
              <a:rPr lang="en-US" dirty="0" smtClean="0">
                <a:solidFill>
                  <a:srgbClr val="FEFEFE"/>
                </a:solidFill>
              </a:rPr>
              <a:t>-embed-text.</a:t>
            </a:r>
          </a:p>
          <a:p>
            <a:pPr algn="l" rtl="0"/>
            <a:r>
              <a:rPr lang="en-US" b="1" dirty="0" smtClean="0">
                <a:solidFill>
                  <a:srgbClr val="FEFEFE"/>
                </a:solidFill>
              </a:rPr>
              <a:t>Vector Database:</a:t>
            </a:r>
            <a:r>
              <a:rPr lang="en-US" dirty="0" smtClean="0">
                <a:solidFill>
                  <a:srgbClr val="FEFEFE"/>
                </a:solidFill>
              </a:rPr>
              <a:t> </a:t>
            </a:r>
            <a:r>
              <a:rPr lang="en-US" b="1" dirty="0" err="1" smtClean="0">
                <a:solidFill>
                  <a:srgbClr val="FEFEFE"/>
                </a:solidFill>
              </a:rPr>
              <a:t>ChromaDB</a:t>
            </a:r>
            <a:r>
              <a:rPr lang="en-US" dirty="0" smtClean="0">
                <a:solidFill>
                  <a:srgbClr val="FEFEFE"/>
                </a:solidFill>
              </a:rPr>
              <a:t> for persistent, on-disk storage.</a:t>
            </a:r>
          </a:p>
          <a:p>
            <a:pPr algn="l" rtl="0"/>
            <a:r>
              <a:rPr lang="en-US" b="1" dirty="0" smtClean="0">
                <a:solidFill>
                  <a:srgbClr val="FEFEFE"/>
                </a:solidFill>
              </a:rPr>
              <a:t>Orchestration:</a:t>
            </a:r>
            <a:r>
              <a:rPr lang="en-US" dirty="0" smtClean="0">
                <a:solidFill>
                  <a:srgbClr val="FEFEFE"/>
                </a:solidFill>
              </a:rPr>
              <a:t> </a:t>
            </a:r>
            <a:r>
              <a:rPr lang="en-US" b="1" dirty="0" err="1" smtClean="0">
                <a:solidFill>
                  <a:srgbClr val="FEFEFE"/>
                </a:solidFill>
              </a:rPr>
              <a:t>LangChain</a:t>
            </a:r>
            <a:r>
              <a:rPr lang="en-US" dirty="0" smtClean="0">
                <a:solidFill>
                  <a:srgbClr val="FEFEFE"/>
                </a:solidFill>
              </a:rPr>
              <a:t> for RAG logic and </a:t>
            </a:r>
            <a:r>
              <a:rPr lang="en-US" b="1" dirty="0" err="1" smtClean="0">
                <a:solidFill>
                  <a:srgbClr val="FEFEFE"/>
                </a:solidFill>
              </a:rPr>
              <a:t>FastAPI</a:t>
            </a:r>
            <a:r>
              <a:rPr lang="en-US" dirty="0" smtClean="0">
                <a:solidFill>
                  <a:srgbClr val="FEFEFE"/>
                </a:solidFill>
              </a:rPr>
              <a:t> for the web backend.</a:t>
            </a:r>
          </a:p>
          <a:p>
            <a:pPr algn="l" rtl="0"/>
            <a:r>
              <a:rPr lang="en-US" b="1" dirty="0" smtClean="0">
                <a:solidFill>
                  <a:srgbClr val="FEFEFE"/>
                </a:solidFill>
              </a:rPr>
              <a:t>Background Tasks:</a:t>
            </a:r>
            <a:r>
              <a:rPr lang="en-US" dirty="0" smtClean="0">
                <a:solidFill>
                  <a:srgbClr val="FEFEFE"/>
                </a:solidFill>
              </a:rPr>
              <a:t> </a:t>
            </a:r>
            <a:r>
              <a:rPr lang="en-US" b="1" dirty="0" smtClean="0">
                <a:solidFill>
                  <a:srgbClr val="FEFEFE"/>
                </a:solidFill>
              </a:rPr>
              <a:t>Celery</a:t>
            </a:r>
            <a:r>
              <a:rPr lang="en-US" dirty="0" smtClean="0">
                <a:solidFill>
                  <a:srgbClr val="FEFEFE"/>
                </a:solidFill>
              </a:rPr>
              <a:t> with </a:t>
            </a:r>
            <a:r>
              <a:rPr lang="en-US" dirty="0" err="1" smtClean="0">
                <a:solidFill>
                  <a:srgbClr val="FEFEFE"/>
                </a:solidFill>
              </a:rPr>
              <a:t>SQLite</a:t>
            </a:r>
            <a:r>
              <a:rPr lang="en-US" dirty="0" smtClean="0">
                <a:solidFill>
                  <a:srgbClr val="FEFEFE"/>
                </a:solidFill>
              </a:rPr>
              <a:t> for asynchronous document processing.</a:t>
            </a:r>
            <a:endParaRPr lang="en-US" dirty="0">
              <a:solidFill>
                <a:srgbClr val="FEFEFE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6488668"/>
            <a:ext cx="1539204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 smtClean="0">
                <a:solidFill>
                  <a:srgbClr val="FEFEFE"/>
                </a:solidFill>
              </a:rPr>
              <a:t>Lerner Samuel</a:t>
            </a:r>
            <a:endParaRPr lang="he-IL" dirty="0">
              <a:solidFill>
                <a:srgbClr val="FEFEFE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rtl="0"/>
            <a:r>
              <a:rPr lang="en-US" dirty="0" smtClean="0">
                <a:solidFill>
                  <a:schemeClr val="bg1"/>
                </a:solidFill>
              </a:rPr>
              <a:t>System Architecture</a:t>
            </a:r>
            <a:r>
              <a:rPr lang="en-US" sz="1000" dirty="0" smtClean="0">
                <a:solidFill>
                  <a:schemeClr val="bg1"/>
                </a:solidFill>
              </a:rPr>
              <a:t>(2 </a:t>
            </a:r>
            <a:r>
              <a:rPr lang="en-US" sz="1000" dirty="0" err="1" smtClean="0">
                <a:solidFill>
                  <a:schemeClr val="bg1"/>
                </a:solidFill>
              </a:rPr>
              <a:t>Mins</a:t>
            </a:r>
            <a:r>
              <a:rPr lang="en-US" sz="1000" dirty="0" smtClean="0">
                <a:solidFill>
                  <a:schemeClr val="bg1"/>
                </a:solidFill>
              </a:rPr>
              <a:t>)</a:t>
            </a:r>
            <a:endParaRPr lang="he-IL" sz="1000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l" rtl="0"/>
            <a:r>
              <a:rPr lang="en-US" b="1" dirty="0" smtClean="0">
                <a:solidFill>
                  <a:schemeClr val="bg1"/>
                </a:solidFill>
              </a:rPr>
              <a:t>Layered Approach:</a:t>
            </a:r>
            <a:endParaRPr lang="en-US" dirty="0" smtClean="0">
              <a:solidFill>
                <a:schemeClr val="bg1"/>
              </a:solidFill>
            </a:endParaRPr>
          </a:p>
          <a:p>
            <a:pPr algn="l" rtl="0"/>
            <a:r>
              <a:rPr lang="en-US" b="1" dirty="0" smtClean="0">
                <a:solidFill>
                  <a:schemeClr val="bg1"/>
                </a:solidFill>
              </a:rPr>
              <a:t>UI Layer:</a:t>
            </a:r>
            <a:r>
              <a:rPr lang="en-US" dirty="0" smtClean="0">
                <a:solidFill>
                  <a:schemeClr val="bg1"/>
                </a:solidFill>
              </a:rPr>
              <a:t> Modern SPA (HTML/JS) and CLI tools.</a:t>
            </a:r>
          </a:p>
          <a:p>
            <a:pPr algn="l" rtl="0"/>
            <a:r>
              <a:rPr lang="en-US" b="1" dirty="0" smtClean="0">
                <a:solidFill>
                  <a:schemeClr val="bg1"/>
                </a:solidFill>
              </a:rPr>
              <a:t>RAG Layer:</a:t>
            </a:r>
            <a:r>
              <a:rPr lang="en-US" dirty="0" smtClean="0">
                <a:solidFill>
                  <a:schemeClr val="bg1"/>
                </a:solidFill>
              </a:rPr>
              <a:t> Handles the "Query → Retrieval → Prompt → Answer" flow.</a:t>
            </a:r>
          </a:p>
          <a:p>
            <a:pPr algn="l" rtl="0"/>
            <a:r>
              <a:rPr lang="en-US" b="1" dirty="0" smtClean="0">
                <a:solidFill>
                  <a:schemeClr val="bg1"/>
                </a:solidFill>
              </a:rPr>
              <a:t>Vector Store Layer:</a:t>
            </a:r>
            <a:r>
              <a:rPr lang="en-US" dirty="0" smtClean="0">
                <a:solidFill>
                  <a:schemeClr val="bg1"/>
                </a:solidFill>
              </a:rPr>
              <a:t> Manages embeddings and similarity searches.</a:t>
            </a:r>
          </a:p>
          <a:p>
            <a:pPr algn="l" rtl="0"/>
            <a:r>
              <a:rPr lang="en-US" b="1" dirty="0" smtClean="0">
                <a:solidFill>
                  <a:schemeClr val="bg1"/>
                </a:solidFill>
              </a:rPr>
              <a:t>Processing Layer:</a:t>
            </a:r>
            <a:r>
              <a:rPr lang="en-US" dirty="0" smtClean="0">
                <a:solidFill>
                  <a:schemeClr val="bg1"/>
                </a:solidFill>
              </a:rPr>
              <a:t> PDF text extraction using </a:t>
            </a:r>
            <a:r>
              <a:rPr lang="en-US" dirty="0" err="1" smtClean="0">
                <a:solidFill>
                  <a:schemeClr val="bg1"/>
                </a:solidFill>
              </a:rPr>
              <a:t>PyPDF</a:t>
            </a:r>
            <a:r>
              <a:rPr lang="en-US" dirty="0" smtClean="0">
                <a:solidFill>
                  <a:schemeClr val="bg1"/>
                </a:solidFill>
              </a:rPr>
              <a:t> and text chunking.</a:t>
            </a:r>
          </a:p>
          <a:p>
            <a:pPr algn="l" rtl="0"/>
            <a:r>
              <a:rPr lang="en-US" b="1" dirty="0" smtClean="0">
                <a:solidFill>
                  <a:schemeClr val="bg1"/>
                </a:solidFill>
              </a:rPr>
              <a:t>Data Storage:</a:t>
            </a:r>
            <a:r>
              <a:rPr lang="en-US" dirty="0" smtClean="0">
                <a:solidFill>
                  <a:schemeClr val="bg1"/>
                </a:solidFill>
              </a:rPr>
              <a:t> Persistent storage in ./</a:t>
            </a:r>
            <a:r>
              <a:rPr lang="en-US" dirty="0" err="1" smtClean="0">
                <a:solidFill>
                  <a:schemeClr val="bg1"/>
                </a:solidFill>
              </a:rPr>
              <a:t>chroma_db</a:t>
            </a:r>
            <a:r>
              <a:rPr lang="en-US" dirty="0" smtClean="0">
                <a:solidFill>
                  <a:schemeClr val="bg1"/>
                </a:solidFill>
              </a:rPr>
              <a:t>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6488668"/>
            <a:ext cx="1539204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Lerner Samuel</a:t>
            </a:r>
            <a:endParaRPr lang="he-IL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420225" cy="852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15710" cy="5589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rtl="0"/>
            <a:r>
              <a:rPr lang="en-US" dirty="0" smtClean="0">
                <a:solidFill>
                  <a:schemeClr val="bg1"/>
                </a:solidFill>
              </a:rPr>
              <a:t>The Data Flow</a:t>
            </a:r>
            <a:r>
              <a:rPr lang="en-US" sz="1000" dirty="0" smtClean="0">
                <a:solidFill>
                  <a:schemeClr val="bg1"/>
                </a:solidFill>
              </a:rPr>
              <a:t>(1.5 </a:t>
            </a:r>
            <a:r>
              <a:rPr lang="en-US" sz="1000" dirty="0" err="1" smtClean="0">
                <a:solidFill>
                  <a:schemeClr val="bg1"/>
                </a:solidFill>
              </a:rPr>
              <a:t>Mins</a:t>
            </a:r>
            <a:r>
              <a:rPr lang="en-US" sz="1000" dirty="0" smtClean="0">
                <a:solidFill>
                  <a:schemeClr val="bg1"/>
                </a:solidFill>
              </a:rPr>
              <a:t>)</a:t>
            </a:r>
            <a:endParaRPr lang="he-IL" sz="1000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l" rtl="0"/>
            <a:r>
              <a:rPr lang="en-US" b="1" dirty="0" smtClean="0">
                <a:solidFill>
                  <a:schemeClr val="bg1"/>
                </a:solidFill>
              </a:rPr>
              <a:t>Ingestion Path:</a:t>
            </a:r>
            <a:endParaRPr lang="en-US" dirty="0" smtClean="0">
              <a:solidFill>
                <a:schemeClr val="bg1"/>
              </a:solidFill>
            </a:endParaRPr>
          </a:p>
          <a:p>
            <a:pPr algn="l" rtl="0"/>
            <a:r>
              <a:rPr lang="en-US" dirty="0" smtClean="0">
                <a:solidFill>
                  <a:schemeClr val="bg1"/>
                </a:solidFill>
              </a:rPr>
              <a:t>PDFs are loaded → Split into 1,000-character chunks (200-character overlap).</a:t>
            </a:r>
          </a:p>
          <a:p>
            <a:pPr algn="l" rtl="0"/>
            <a:r>
              <a:rPr lang="en-US" dirty="0" smtClean="0">
                <a:solidFill>
                  <a:schemeClr val="bg1"/>
                </a:solidFill>
              </a:rPr>
              <a:t>Chunks are converted to vectors (Embeddings).</a:t>
            </a:r>
          </a:p>
          <a:p>
            <a:pPr algn="l" rtl="0"/>
            <a:r>
              <a:rPr lang="en-US" dirty="0" smtClean="0">
                <a:solidFill>
                  <a:schemeClr val="bg1"/>
                </a:solidFill>
              </a:rPr>
              <a:t>Stored in </a:t>
            </a:r>
            <a:r>
              <a:rPr lang="en-US" dirty="0" err="1" smtClean="0">
                <a:solidFill>
                  <a:schemeClr val="bg1"/>
                </a:solidFill>
              </a:rPr>
              <a:t>ChromaDB</a:t>
            </a:r>
            <a:r>
              <a:rPr lang="en-US" dirty="0" smtClean="0">
                <a:solidFill>
                  <a:schemeClr val="bg1"/>
                </a:solidFill>
              </a:rPr>
              <a:t> with deterministic IDs to prevent duplicates.</a:t>
            </a:r>
          </a:p>
          <a:p>
            <a:pPr algn="l" rtl="0"/>
            <a:r>
              <a:rPr lang="en-US" b="1" dirty="0" smtClean="0">
                <a:solidFill>
                  <a:schemeClr val="bg1"/>
                </a:solidFill>
              </a:rPr>
              <a:t>Retrieval Path:</a:t>
            </a:r>
            <a:endParaRPr lang="en-US" dirty="0" smtClean="0">
              <a:solidFill>
                <a:schemeClr val="bg1"/>
              </a:solidFill>
            </a:endParaRPr>
          </a:p>
          <a:p>
            <a:pPr algn="l" rtl="0"/>
            <a:r>
              <a:rPr lang="en-US" dirty="0" smtClean="0">
                <a:solidFill>
                  <a:schemeClr val="bg1"/>
                </a:solidFill>
              </a:rPr>
              <a:t>User asks a question → Question is embedded.</a:t>
            </a:r>
          </a:p>
          <a:p>
            <a:pPr algn="l" rtl="0"/>
            <a:r>
              <a:rPr lang="en-US" dirty="0" smtClean="0">
                <a:solidFill>
                  <a:schemeClr val="bg1"/>
                </a:solidFill>
              </a:rPr>
              <a:t>System finds top </a:t>
            </a:r>
            <a:r>
              <a:rPr lang="en-US" b="1" dirty="0" smtClean="0">
                <a:solidFill>
                  <a:schemeClr val="bg1"/>
                </a:solidFill>
              </a:rPr>
              <a:t>k=4</a:t>
            </a:r>
            <a:r>
              <a:rPr lang="en-US" dirty="0" smtClean="0">
                <a:solidFill>
                  <a:schemeClr val="bg1"/>
                </a:solidFill>
              </a:rPr>
              <a:t> most relevant document chunks.</a:t>
            </a:r>
          </a:p>
          <a:p>
            <a:pPr algn="l" rtl="0"/>
            <a:r>
              <a:rPr lang="en-US" dirty="0" smtClean="0">
                <a:solidFill>
                  <a:schemeClr val="bg1"/>
                </a:solidFill>
              </a:rPr>
              <a:t>LLM generates an answer based </a:t>
            </a:r>
            <a:r>
              <a:rPr lang="en-US" i="1" dirty="0" smtClean="0">
                <a:solidFill>
                  <a:schemeClr val="bg1"/>
                </a:solidFill>
              </a:rPr>
              <a:t>only</a:t>
            </a:r>
            <a:r>
              <a:rPr lang="en-US" dirty="0" smtClean="0">
                <a:solidFill>
                  <a:schemeClr val="bg1"/>
                </a:solidFill>
              </a:rPr>
              <a:t> on that context</a:t>
            </a:r>
          </a:p>
          <a:p>
            <a:pPr algn="l" rtl="0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6488668"/>
            <a:ext cx="1539204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Lerner Samuel</a:t>
            </a:r>
            <a:endParaRPr lang="he-IL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rtl="0"/>
            <a:r>
              <a:rPr lang="en-US" dirty="0" smtClean="0">
                <a:solidFill>
                  <a:schemeClr val="bg1"/>
                </a:solidFill>
              </a:rPr>
              <a:t>Key Features &amp; Demo Highlights</a:t>
            </a:r>
            <a:r>
              <a:rPr lang="en-US" sz="1100" dirty="0" smtClean="0">
                <a:solidFill>
                  <a:schemeClr val="bg1"/>
                </a:solidFill>
              </a:rPr>
              <a:t>(1.5 </a:t>
            </a:r>
            <a:r>
              <a:rPr lang="en-US" sz="1100" dirty="0" err="1" smtClean="0">
                <a:solidFill>
                  <a:schemeClr val="bg1"/>
                </a:solidFill>
              </a:rPr>
              <a:t>Mins</a:t>
            </a:r>
            <a:r>
              <a:rPr lang="en-US" sz="1100" dirty="0" smtClean="0">
                <a:solidFill>
                  <a:schemeClr val="bg1"/>
                </a:solidFill>
              </a:rPr>
              <a:t>)</a:t>
            </a:r>
            <a:endParaRPr lang="he-IL" sz="1100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l" rtl="0"/>
            <a:r>
              <a:rPr lang="en-US" b="1" dirty="0" err="1" smtClean="0">
                <a:solidFill>
                  <a:schemeClr val="bg1"/>
                </a:solidFill>
              </a:rPr>
              <a:t>Deduplication</a:t>
            </a:r>
            <a:r>
              <a:rPr lang="en-US" b="1" dirty="0" smtClean="0">
                <a:solidFill>
                  <a:schemeClr val="bg1"/>
                </a:solidFill>
              </a:rPr>
              <a:t>:</a:t>
            </a:r>
            <a:r>
              <a:rPr lang="en-US" dirty="0" smtClean="0">
                <a:solidFill>
                  <a:schemeClr val="bg1"/>
                </a:solidFill>
              </a:rPr>
              <a:t> Uses SHA-256 hashes of text to ensure the same info isn't stored twice.</a:t>
            </a:r>
          </a:p>
          <a:p>
            <a:pPr algn="l" rtl="0"/>
            <a:r>
              <a:rPr lang="en-US" b="1" dirty="0" smtClean="0">
                <a:solidFill>
                  <a:schemeClr val="bg1"/>
                </a:solidFill>
              </a:rPr>
              <a:t>Source Citations:</a:t>
            </a:r>
            <a:r>
              <a:rPr lang="en-US" dirty="0" smtClean="0">
                <a:solidFill>
                  <a:schemeClr val="bg1"/>
                </a:solidFill>
              </a:rPr>
              <a:t> Every answer includes the filename and page number for transparency.</a:t>
            </a:r>
          </a:p>
          <a:p>
            <a:pPr algn="l" rtl="0"/>
            <a:r>
              <a:rPr lang="en-US" b="1" dirty="0" smtClean="0">
                <a:solidFill>
                  <a:schemeClr val="bg1"/>
                </a:solidFill>
              </a:rPr>
              <a:t>Flexible Ingestion:</a:t>
            </a:r>
            <a:r>
              <a:rPr lang="en-US" dirty="0" smtClean="0">
                <a:solidFill>
                  <a:schemeClr val="bg1"/>
                </a:solidFill>
              </a:rPr>
              <a:t> Supports local CLI uploads, web-based multipart uploads, and URL-based PDF downloads.</a:t>
            </a:r>
          </a:p>
          <a:p>
            <a:pPr algn="l" rtl="0"/>
            <a:r>
              <a:rPr lang="en-US" b="1" dirty="0" smtClean="0">
                <a:solidFill>
                  <a:schemeClr val="bg1"/>
                </a:solidFill>
              </a:rPr>
              <a:t>Asynchronous Processing:</a:t>
            </a:r>
            <a:r>
              <a:rPr lang="en-US" dirty="0" smtClean="0">
                <a:solidFill>
                  <a:schemeClr val="bg1"/>
                </a:solidFill>
              </a:rPr>
              <a:t> Large PDFs are processed in the background via Celery so the UI never freezes.</a:t>
            </a:r>
          </a:p>
          <a:p>
            <a:pPr algn="l" rtl="0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6488668"/>
            <a:ext cx="1539204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Lerner Samuel</a:t>
            </a:r>
            <a:endParaRPr lang="he-IL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rtl="0"/>
            <a:r>
              <a:rPr lang="en-US" dirty="0" smtClean="0">
                <a:solidFill>
                  <a:schemeClr val="bg1"/>
                </a:solidFill>
              </a:rPr>
              <a:t>Monitoring &amp; Scalability</a:t>
            </a:r>
            <a:r>
              <a:rPr lang="en-US" sz="900" dirty="0" smtClean="0">
                <a:solidFill>
                  <a:schemeClr val="bg1"/>
                </a:solidFill>
              </a:rPr>
              <a:t>(</a:t>
            </a:r>
            <a:r>
              <a:rPr lang="en-US" sz="1000" dirty="0" smtClean="0">
                <a:solidFill>
                  <a:schemeClr val="bg1"/>
                </a:solidFill>
              </a:rPr>
              <a:t>1min)</a:t>
            </a:r>
            <a:endParaRPr lang="he-IL" sz="1000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l" rtl="0"/>
            <a:r>
              <a:rPr lang="en-US" b="1" dirty="0" smtClean="0">
                <a:solidFill>
                  <a:schemeClr val="bg1"/>
                </a:solidFill>
              </a:rPr>
              <a:t>Task Monitoring:</a:t>
            </a:r>
            <a:r>
              <a:rPr lang="en-US" dirty="0" smtClean="0">
                <a:solidFill>
                  <a:schemeClr val="bg1"/>
                </a:solidFill>
              </a:rPr>
              <a:t> Dedicated /monitoring/ endpoints to track Celery task status (RUNNING, SUCCESS, FAILURE).</a:t>
            </a:r>
            <a:br>
              <a:rPr lang="en-US" dirty="0" smtClean="0">
                <a:solidFill>
                  <a:schemeClr val="bg1"/>
                </a:solidFill>
              </a:rPr>
            </a:br>
            <a:r>
              <a:rPr lang="en-US" dirty="0" smtClean="0">
                <a:solidFill>
                  <a:schemeClr val="bg1"/>
                </a:solidFill>
                <a:hlinkClick r:id="rId2"/>
              </a:rPr>
              <a:t>http://localhost:8000/monitoring/</a:t>
            </a:r>
            <a:endParaRPr lang="en-US" dirty="0" smtClean="0">
              <a:solidFill>
                <a:schemeClr val="bg1"/>
              </a:solidFill>
            </a:endParaRPr>
          </a:p>
          <a:p>
            <a:pPr algn="l" rtl="0">
              <a:buNone/>
            </a:pPr>
            <a:endParaRPr lang="en-US" dirty="0" smtClean="0">
              <a:solidFill>
                <a:schemeClr val="bg1"/>
              </a:solidFill>
            </a:endParaRPr>
          </a:p>
          <a:p>
            <a:pPr algn="l" rtl="0"/>
            <a:r>
              <a:rPr lang="en-US" b="1" dirty="0" smtClean="0">
                <a:solidFill>
                  <a:schemeClr val="bg1"/>
                </a:solidFill>
              </a:rPr>
              <a:t>Current Scale:</a:t>
            </a:r>
            <a:r>
              <a:rPr lang="en-US" dirty="0" smtClean="0">
                <a:solidFill>
                  <a:schemeClr val="bg1"/>
                </a:solidFill>
              </a:rPr>
              <a:t> Optimized for personal use or small teams (thousands of pages).</a:t>
            </a:r>
          </a:p>
          <a:p>
            <a:pPr algn="l" rtl="0"/>
            <a:r>
              <a:rPr lang="en-US" b="1" dirty="0" smtClean="0">
                <a:solidFill>
                  <a:schemeClr val="bg1"/>
                </a:solidFill>
              </a:rPr>
              <a:t>Future Growth:</a:t>
            </a:r>
            <a:r>
              <a:rPr lang="en-US" dirty="0" smtClean="0">
                <a:solidFill>
                  <a:schemeClr val="bg1"/>
                </a:solidFill>
              </a:rPr>
              <a:t> Could transition to cloud vector stores (Pinecone) or remote APIs for larger enterprise needs.</a:t>
            </a:r>
          </a:p>
          <a:p>
            <a:pPr algn="l" rtl="0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6488668"/>
            <a:ext cx="1539204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Lerner Samuel</a:t>
            </a:r>
            <a:endParaRPr lang="he-IL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rtl="0"/>
            <a:r>
              <a:rPr lang="en-US" dirty="0" smtClean="0">
                <a:solidFill>
                  <a:schemeClr val="bg1"/>
                </a:solidFill>
              </a:rPr>
              <a:t>Getting Started &amp; Conclusion</a:t>
            </a:r>
            <a:r>
              <a:rPr lang="en-US" sz="1000" dirty="0" smtClean="0">
                <a:solidFill>
                  <a:schemeClr val="bg1"/>
                </a:solidFill>
              </a:rPr>
              <a:t>(1min)</a:t>
            </a:r>
            <a:endParaRPr lang="he-IL" sz="1000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 rtl="0"/>
            <a:r>
              <a:rPr lang="en-US" b="1" dirty="0" smtClean="0">
                <a:solidFill>
                  <a:schemeClr val="bg1"/>
                </a:solidFill>
              </a:rPr>
              <a:t>Quick Setup:</a:t>
            </a:r>
            <a:endParaRPr lang="en-US" dirty="0" smtClean="0">
              <a:solidFill>
                <a:schemeClr val="bg1"/>
              </a:solidFill>
            </a:endParaRPr>
          </a:p>
          <a:p>
            <a:pPr lvl="1" algn="l" rtl="0"/>
            <a:r>
              <a:rPr lang="en-US" dirty="0" smtClean="0">
                <a:solidFill>
                  <a:schemeClr val="bg1"/>
                </a:solidFill>
              </a:rPr>
              <a:t>Pull models in </a:t>
            </a:r>
            <a:r>
              <a:rPr lang="en-US" dirty="0" err="1" smtClean="0">
                <a:solidFill>
                  <a:schemeClr val="bg1"/>
                </a:solidFill>
              </a:rPr>
              <a:t>Ollama</a:t>
            </a:r>
            <a:r>
              <a:rPr lang="en-US" dirty="0" smtClean="0">
                <a:solidFill>
                  <a:schemeClr val="bg1"/>
                </a:solidFill>
              </a:rPr>
              <a:t>.</a:t>
            </a:r>
          </a:p>
          <a:p>
            <a:pPr lvl="1" algn="l" rtl="0"/>
            <a:r>
              <a:rPr lang="en-US" dirty="0" smtClean="0">
                <a:solidFill>
                  <a:schemeClr val="bg1"/>
                </a:solidFill>
              </a:rPr>
              <a:t>Install requirements.</a:t>
            </a:r>
          </a:p>
          <a:p>
            <a:pPr lvl="1" algn="l" rtl="0"/>
            <a:r>
              <a:rPr lang="en-US" dirty="0" smtClean="0">
                <a:solidFill>
                  <a:schemeClr val="bg1"/>
                </a:solidFill>
              </a:rPr>
              <a:t>Run setup_vector_store.py to ingest PDFs.</a:t>
            </a:r>
          </a:p>
          <a:p>
            <a:pPr lvl="1" algn="l" rtl="0"/>
            <a:r>
              <a:rPr lang="en-US" dirty="0" smtClean="0">
                <a:solidFill>
                  <a:schemeClr val="bg1"/>
                </a:solidFill>
              </a:rPr>
              <a:t>Launch </a:t>
            </a:r>
            <a:r>
              <a:rPr lang="en-US" dirty="0" err="1" smtClean="0">
                <a:solidFill>
                  <a:schemeClr val="bg1"/>
                </a:solidFill>
              </a:rPr>
              <a:t>FastAPI</a:t>
            </a:r>
            <a:r>
              <a:rPr lang="en-US" dirty="0" smtClean="0">
                <a:solidFill>
                  <a:schemeClr val="bg1"/>
                </a:solidFill>
              </a:rPr>
              <a:t> server.</a:t>
            </a:r>
          </a:p>
          <a:p>
            <a:pPr algn="l" rtl="0"/>
            <a:r>
              <a:rPr lang="en-US" b="1" dirty="0" smtClean="0">
                <a:solidFill>
                  <a:schemeClr val="bg1"/>
                </a:solidFill>
              </a:rPr>
              <a:t>Final Thought:</a:t>
            </a:r>
            <a:r>
              <a:rPr lang="en-US" dirty="0" smtClean="0">
                <a:solidFill>
                  <a:schemeClr val="bg1"/>
                </a:solidFill>
              </a:rPr>
              <a:t> This project demonstrates a robust, production-ready pattern for local AI tools that respect data privacy while delivering high utility.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6488668"/>
            <a:ext cx="1539204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Lerner Samuel</a:t>
            </a:r>
            <a:endParaRPr lang="he-IL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611560" y="2564904"/>
            <a:ext cx="7772400" cy="1470025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Thank you</a:t>
            </a:r>
            <a:endParaRPr lang="he-IL" dirty="0">
              <a:solidFill>
                <a:schemeClr val="bg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6488668"/>
            <a:ext cx="44232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chemeClr val="tx2">
                    <a:lumMod val="20000"/>
                    <a:lumOff val="80000"/>
                  </a:schemeClr>
                </a:solidFill>
              </a:rPr>
              <a:t>https://github.com/lersam/ai-course-chatbot</a:t>
            </a:r>
            <a:endParaRPr lang="he-IL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</TotalTime>
  <Words>450</Words>
  <Application>Microsoft Office PowerPoint</Application>
  <PresentationFormat>On-screen Show (4:3)</PresentationFormat>
  <Paragraphs>59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AI Course Chatbot</vt:lpstr>
      <vt:lpstr>Introduction &amp; Project Vision(1 Min)</vt:lpstr>
      <vt:lpstr>Core Technologies(1 Min)</vt:lpstr>
      <vt:lpstr>System Architecture(2 Mins)</vt:lpstr>
      <vt:lpstr>Slide 5</vt:lpstr>
      <vt:lpstr>Slide 6</vt:lpstr>
      <vt:lpstr>The Data Flow(1.5 Mins)</vt:lpstr>
      <vt:lpstr>Key Features &amp; Demo Highlights(1.5 Mins)</vt:lpstr>
      <vt:lpstr>Monitoring &amp; Scalability(1min)</vt:lpstr>
      <vt:lpstr>Getting Started &amp; Conclusion(1min)</vt:lpstr>
      <vt:lpstr>Thank you</vt:lpstr>
    </vt:vector>
  </TitlesOfParts>
  <Company>Microsoft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RAG Chatbot</dc:title>
  <dc:creator>Samuel Lerner</dc:creator>
  <cp:lastModifiedBy>Samuel Lerner</cp:lastModifiedBy>
  <cp:revision>10</cp:revision>
  <dcterms:created xsi:type="dcterms:W3CDTF">2026-02-16T15:09:34Z</dcterms:created>
  <dcterms:modified xsi:type="dcterms:W3CDTF">2026-02-16T16:44:01Z</dcterms:modified>
</cp:coreProperties>
</file>